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2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5cd8c34-6202-5f5f-e612-304baef44c4d}">
          <p14:sldIdLst>
            <p14:sldId id="256"/>
            <p14:sldId id="257"/>
            <p14:sldId id="258"/>
          </p14:sldIdLst>
        </p14:section>
        <p14:section name="How it works" id="{a5642657-181f-f720-7058-942e55351045}">
          <p14:sldIdLst>
            <p14:sldId id="259"/>
            <p14:sldId id="260"/>
          </p14:sldIdLst>
        </p14:section>
        <p14:section name="Run it" id="{2c9e6fdd-4390-0bb1-9ec1-50943e24e2f8}">
          <p14:sldIdLst>
            <p14:sldId id="261"/>
            <p14:sldId id="262"/>
          </p14:sldIdLst>
        </p14:section>
        <p14:section name="Scale" id="{9dd1c2f9-4e0d-fca4-78a0-06a4bc994e90}">
          <p14:sldIdLst>
            <p14:sldId id="263"/>
            <p14:sldId id="264"/>
          </p14:sldIdLst>
        </p14:section>
        <p14:section name="Performance" id="{14ad2a80-4be8-5286-6d78-7daa150a9bd3}">
          <p14:sldIdLst>
            <p14:sldId id="265"/>
            <p14:sldId id="266"/>
          </p14:sldIdLst>
        </p14:section>
        <p14:section name="Configure" id="{09b3693e-7f2b-391b-a871-f2ec476283ca}">
          <p14:sldIdLst>
            <p14:sldId id="267"/>
            <p14:sldId id="268"/>
            <p14:sldId id="269"/>
          </p14:sldIdLst>
        </p14:section>
        <p14:section name="Wrap up" id="{d0247917-fb21-7df5-f911-301b9ba636ac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pitch: a MuJoCo-solved Franka arm picks up a VBD-solved cable and places it elsewhere. Two solvers in one scene, coupled through a proxy. Headless, many worlds in parallel on the GPU, played back in the browser afterwards. About 15 minutes of talking plus about 5 minutes of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simplest case before explaining anything: one arm, one cable. Open the printed URL and let the 7 s pick-and-place play through. Steady speed is about 23 ms/frame. Warm up with --sim.num-worlds 1 beforehand: a new world count recompiles kernels (about 19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SolverMuJoCo for the arm (articulated, joints, PD control). SolverVBD for the cable (thin, stiff, deformable rods). The proxy makes the gripper bodies visible to the cable solver: the gripper moves the cable and the cable pushes back. mode=lagged means the proxy lags by one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keyframe table drives the hand target. IK turns it into joint targets, and Warp kernels broadcast it to every world. Each world gets its own randomly scaled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rendered during simulation. The viewer is only a recorder, so this works on a headless GPU box. Point out the Timing line and the per-world placement error (roughly 1-6 cm).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printed URL. Ctrl+C to stop. The cable sags and swings while carried: that is the VBD solver reacting to the MuJoCo-driven gripper through the proxy. Worlds are spaced 0.5 m apart for display, so arms may overlap; harmless, since worlds never interact.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world is a full copy of the scene, all simulated at the origin. --sim.world-spacing only offsets them visually. 16 worlds cost barely more per frame than 1. A new world count recompiles kernels on the first frame (about 19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worlds on the GPU is about 60x the CPU throughput. Most of it is batching. The CPU has no CUDA graph, so use --sim.steps 60; the run ends with a large placement error only because it stops early. The CPU run takes about 40 s the first time (12 s setup, 17 s compiling).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default the per-frame work (IK plus all physics substeps) is captured once into a CUDA graph and replayed, removing thousands of kernel launches per frame. Needs an even --sim.substeps because the two state buffers are swapped every substep and the graph must end where it started. CUDA devices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Warp compiles kernels the first time it sees them and caches the binaries on disk. The cache only changes startup, not steady-state speed. Do the cold run before the demo, not during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SimConfig is exposed by tyro as --sim.* flags. Check the printed placement error to see whether the task still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of using VBD for the cable. Bend stiffness, stretch stiffness, density and segment count are all physical parameters. A floppier cable swings more and ends with a larger placement error. A very long cable may not be graspable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substeps and iterations mean better accuracy and slower runs. coupling-iterations controls how many times the two solvers exchange state within a step. --sim.profile prints Warp's per-kernel GPU timing (first frame excluded).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 on the GPU box, play back on your laptop through an SSH tunnel, or copy the .viser file to any machine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simulate after a clean will recompile and may re-download. play calls a private Newton method, so a Newton upgrade may break it. Runs are not bit-for-bit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world can get its own random parameters, drawn from --sim.seed, so one run covers many variations of the task. Each value is a uniform half-range around nominal. Unset means off, or the default range if --sim.rand.all is given; 0 always disables. Relative ranges must be below 1. The draw order is fixed, so enabling one parameter does not change the samples of another. Point out the per-world placement errors, which now differ (about 1.7 to 4.7 cm across 4 worlds in one run), and that the run is lengthened for the slowest world because of timing. Not randomized yet: cable geometry, bend and stretch stiffness, cable yaw, ground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90879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76B900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Coupled Franka + cable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76B900"/>
                </a:solidFill>
              </a:rPr>
              <a:t>MuJoCo arm, VBD cable, proxy coupling, many worlds on one GPU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What you will see</a:t>
            </a:r>
            <a:endParaRPr lang="en-US" sz="3600" dirty="0"/>
          </a:p>
        </p:txBody>
      </p:sp>
      <p:sp>
        <p:nvSpPr>
          <p:cNvPr id="3" name="bullets"/>
          <p:cNvSpPr txBox="1"/>
          <p:nvPr/>
        </p:nvSpPr>
        <p:spPr>
          <a:xfrm>
            <a:off x="640080" y="164592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Coupling two solvers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Task control through keyframes and IK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Parallelizing worlds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Running headless and visualizing locally</a:t>
            </a:r>
            <a:endParaRPr lang="en-US" sz="2800" dirty="0"/>
          </a:p>
        </p:txBody>
      </p:sp>
      <p:sp>
        <p:nvSpPr>
          <p:cNvPr id="4" name="stat talk plus simulation"/>
          <p:cNvSpPr txBox="1"/>
          <p:nvPr/>
        </p:nvSpPr>
        <p:spPr>
          <a:xfrm>
            <a:off x="841248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~25 min</a:t>
            </a:r>
            <a:endParaRPr lang="en-US" sz="5400" dirty="0"/>
          </a:p>
        </p:txBody>
      </p:sp>
      <p:sp>
        <p:nvSpPr>
          <p:cNvPr id="5" name="label talk plus simulation"/>
          <p:cNvSpPr txBox="1"/>
          <p:nvPr/>
        </p:nvSpPr>
        <p:spPr>
          <a:xfrm>
            <a:off x="841248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talk plus simulation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First demo: a single arm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645920"/>
            <a:ext cx="10908792" cy="619760"/>
          </a:xfrm>
          <a:prstGeom prst="roundRect">
            <a:avLst>
              <a:gd name="adj" fmla="val 1180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755648"/>
            <a:ext cx="10451592" cy="40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--sim.num-worlds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endParaRPr lang="en-US" sz="1600" dirty="0"/>
          </a:p>
        </p:txBody>
      </p:sp>
      <p:sp>
        <p:nvSpPr>
          <p:cNvPr id="6" name="bullets"/>
          <p:cNvSpPr txBox="1"/>
          <p:nvPr/>
        </p:nvSpPr>
        <p:spPr>
          <a:xfrm>
            <a:off x="640080" y="3017520"/>
            <a:ext cx="109087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arm picks up the cable and puts it somewhere else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7 s task, 420 frames at 60 fps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Everything after this is how it works and how to scale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Two solvers, one scene</a:t>
            </a:r>
            <a:endParaRPr lang="en-US" sz="3600" dirty="0"/>
          </a:p>
        </p:txBody>
      </p:sp>
      <p:sp>
        <p:nvSpPr>
          <p:cNvPr id="4" name="coupling code bg"/>
          <p:cNvSpPr/>
          <p:nvPr/>
        </p:nvSpPr>
        <p:spPr>
          <a:xfrm>
            <a:off x="640080" y="1554480"/>
            <a:ext cx="6949440" cy="2985135"/>
          </a:xfrm>
          <a:prstGeom prst="roundRect">
            <a:avLst>
              <a:gd name="adj" fmla="val 2451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oupling code"/>
          <p:cNvSpPr txBox="1"/>
          <p:nvPr/>
        </p:nvSpPr>
        <p:spPr>
          <a:xfrm>
            <a:off x="868680" y="1664208"/>
            <a:ext cx="6492240" cy="276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SolverCoupledProxy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0A7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"mjc"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SolverMuJoCo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franka_bodies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0A7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"vbd"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SolverVBD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cable_bodies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coupling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0A7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"mjc"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0A7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"vbd"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gripper_bodies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rgbClr val="0A7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"lagged"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bullets"/>
          <p:cNvSpPr txBox="1"/>
          <p:nvPr/>
        </p:nvSpPr>
        <p:spPr>
          <a:xfrm>
            <a:off x="8046720" y="17373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MuJoCo: the arm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VBD: the cable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Proxy: gripper pushes the cable, the cable pushes back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Task control</a:t>
            </a:r>
            <a:endParaRPr lang="en-US" sz="3600" dirty="0"/>
          </a:p>
        </p:txBody>
      </p:sp>
      <p:sp>
        <p:nvSpPr>
          <p:cNvPr id="4" name="keyframes bg"/>
          <p:cNvSpPr/>
          <p:nvPr/>
        </p:nvSpPr>
        <p:spPr>
          <a:xfrm>
            <a:off x="640080" y="1554480"/>
            <a:ext cx="10908792" cy="2143760"/>
          </a:xfrm>
          <a:prstGeom prst="roundRect">
            <a:avLst>
              <a:gd name="adj" fmla="val 341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keyframes"/>
          <p:cNvSpPr txBox="1"/>
          <p:nvPr/>
        </p:nvSpPr>
        <p:spPr>
          <a:xfrm>
            <a:off x="868680" y="1664208"/>
            <a:ext cx="10451592" cy="192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GRIP_OPEN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above cable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GRIP_OPEN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cz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GRIP_CLOSE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grasp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GRIP_CLOSE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GRIP_CLOSE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(duration, x, y, z, quat, grip)</a:t>
            </a:r>
            <a:endParaRPr lang="en-US" sz="1600" dirty="0"/>
          </a:p>
        </p:txBody>
      </p:sp>
      <p:sp>
        <p:nvSpPr>
          <p:cNvPr id="6" name="flow"/>
          <p:cNvSpPr txBox="1"/>
          <p:nvPr/>
        </p:nvSpPr>
        <p:spPr>
          <a:xfrm>
            <a:off x="640080" y="4114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keyframes  →  IK (Levenberg-Marquardt)  →  joint targets  →  MuJoCo PD control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Simulate and record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619760"/>
          </a:xfrm>
          <a:prstGeom prst="roundRect">
            <a:avLst>
              <a:gd name="adj" fmla="val 11803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40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endParaRPr lang="en-US" sz="1600" dirty="0"/>
          </a:p>
        </p:txBody>
      </p:sp>
      <p:sp>
        <p:nvSpPr>
          <p:cNvPr id="6" name="output bg"/>
          <p:cNvSpPr/>
          <p:nvPr/>
        </p:nvSpPr>
        <p:spPr>
          <a:xfrm>
            <a:off x="640080" y="2651760"/>
            <a:ext cx="10908792" cy="1254760"/>
          </a:xfrm>
          <a:prstGeom prst="roundRect">
            <a:avLst>
              <a:gd name="adj" fmla="val 5830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output"/>
          <p:cNvSpPr txBox="1"/>
          <p:nvPr/>
        </p:nvSpPr>
        <p:spPr>
          <a:xfrm>
            <a:off x="868680" y="2761488"/>
            <a:ext cx="10451592" cy="103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device=cuda:0 worlds=4 frames=420 (7.0s sim time)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Timing: cuda_graph=on setup=2.26s first_frame=0.76s steady=10.18s = 24.29 ms/frame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Cable centroid -&gt; place target error per world [m]: [0.05 0.018 0.052 0.052]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 written to recordings/franka_cable.viser</a:t>
            </a:r>
            <a:endParaRPr lang="en-US" sz="1400" dirty="0"/>
          </a:p>
        </p:txBody>
      </p:sp>
      <p:sp>
        <p:nvSpPr>
          <p:cNvPr id="8" name="stat world-frames/s (4 worlds)"/>
          <p:cNvSpPr txBox="1"/>
          <p:nvPr/>
        </p:nvSpPr>
        <p:spPr>
          <a:xfrm>
            <a:off x="640080" y="4663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165</a:t>
            </a:r>
            <a:endParaRPr lang="en-US" sz="5400" dirty="0"/>
          </a:p>
        </p:txBody>
      </p:sp>
      <p:sp>
        <p:nvSpPr>
          <p:cNvPr id="9" name="label world-frames/s (4 worlds)"/>
          <p:cNvSpPr txBox="1"/>
          <p:nvPr/>
        </p:nvSpPr>
        <p:spPr>
          <a:xfrm>
            <a:off x="640080" y="5577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world-frames/s (4 worlds)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Play it back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87376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--port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 port, handy for SSH forwarding</a:t>
            </a:r>
            <a:endParaRPr lang="en-US" sz="1600" dirty="0"/>
          </a:p>
        </p:txBody>
      </p:sp>
      <p:graphicFrame>
        <p:nvGraphicFramePr>
          <p:cNvPr id="8" name="phas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Phase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0–1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Move above the cable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1–1.5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Descend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1.5–2.5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Grasp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2.5–3.5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Lift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3.5–4.5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Transport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4.5–5.5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Lower and settle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5.5–7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Release and retreat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Scale: many parallel worlds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87376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--sim.num-worlds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--sim.world-spacing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spread them out again</a:t>
            </a:r>
            <a:endParaRPr lang="en-US" sz="1600" dirty="0"/>
          </a:p>
        </p:txBody>
      </p:sp>
      <p:sp>
        <p:nvSpPr>
          <p:cNvPr id="6" name="stat world-frames/s, 4 worlds"/>
          <p:cNvSpPr txBox="1"/>
          <p:nvPr/>
        </p:nvSpPr>
        <p:spPr>
          <a:xfrm>
            <a:off x="64008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165</a:t>
            </a:r>
            <a:endParaRPr lang="en-US" sz="5400" dirty="0"/>
          </a:p>
        </p:txBody>
      </p:sp>
      <p:sp>
        <p:nvSpPr>
          <p:cNvPr id="7" name="label world-frames/s, 4 worlds"/>
          <p:cNvSpPr txBox="1"/>
          <p:nvPr/>
        </p:nvSpPr>
        <p:spPr>
          <a:xfrm>
            <a:off x="64008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world-frames/s, 4 worlds</a:t>
            </a:r>
            <a:endParaRPr lang="en-US" sz="1400" dirty="0"/>
          </a:p>
        </p:txBody>
      </p:sp>
      <p:sp>
        <p:nvSpPr>
          <p:cNvPr id="8" name="stat world-frames/s, 16 worlds"/>
          <p:cNvSpPr txBox="1"/>
          <p:nvPr/>
        </p:nvSpPr>
        <p:spPr>
          <a:xfrm>
            <a:off x="457200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590</a:t>
            </a:r>
            <a:endParaRPr lang="en-US" sz="5400" dirty="0"/>
          </a:p>
        </p:txBody>
      </p:sp>
      <p:sp>
        <p:nvSpPr>
          <p:cNvPr id="9" name="label world-frames/s, 16 worlds"/>
          <p:cNvSpPr txBox="1"/>
          <p:nvPr/>
        </p:nvSpPr>
        <p:spPr>
          <a:xfrm>
            <a:off x="457200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world-frames/s, 16 worlds</a:t>
            </a:r>
            <a:endParaRPr lang="en-US" sz="1400" dirty="0"/>
          </a:p>
        </p:txBody>
      </p:sp>
      <p:sp>
        <p:nvSpPr>
          <p:cNvPr id="10" name="stat for 4x the worlds"/>
          <p:cNvSpPr txBox="1"/>
          <p:nvPr/>
        </p:nvSpPr>
        <p:spPr>
          <a:xfrm>
            <a:off x="859536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3.6x</a:t>
            </a:r>
            <a:endParaRPr lang="en-US" sz="5400" dirty="0"/>
          </a:p>
        </p:txBody>
      </p:sp>
      <p:sp>
        <p:nvSpPr>
          <p:cNvPr id="11" name="label for 4x the worlds"/>
          <p:cNvSpPr txBox="1"/>
          <p:nvPr/>
        </p:nvSpPr>
        <p:spPr>
          <a:xfrm>
            <a:off x="859536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 4x the worlds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CPU vs GPU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87376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--sim.device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--sim.num-worlds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--sim.steps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--sim.num-worlds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600" dirty="0"/>
          </a:p>
        </p:txBody>
      </p:sp>
      <p:graphicFrame>
        <p:nvGraphicFramePr>
          <p:cNvPr id="10" name="cpu gp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7315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Run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ms / frame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world-frames/s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world, CPU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~104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~9.6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world, GPU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~23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~44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 worlds, GPU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~27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~590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CUDA graph</a:t>
            </a:r>
            <a:endParaRPr lang="en-US" sz="3600" dirty="0"/>
          </a:p>
        </p:txBody>
      </p:sp>
      <p:sp>
        <p:nvSpPr>
          <p:cNvPr id="4" name="capture code bg"/>
          <p:cNvSpPr/>
          <p:nvPr/>
        </p:nvSpPr>
        <p:spPr>
          <a:xfrm>
            <a:off x="640080" y="1554480"/>
            <a:ext cx="7315200" cy="1635760"/>
          </a:xfrm>
          <a:prstGeom prst="roundRect">
            <a:avLst>
              <a:gd name="adj" fmla="val 447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apture code"/>
          <p:cNvSpPr txBox="1"/>
          <p:nvPr/>
        </p:nvSpPr>
        <p:spPr>
          <a:xfrm>
            <a:off x="868680" y="1664208"/>
            <a:ext cx="6858000" cy="141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ScopedCapture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_frame_work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IK + physics substeps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capture_launch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frame</a:t>
            </a:r>
            <a:endParaRPr lang="en-US" sz="1600" dirty="0"/>
          </a:p>
        </p:txBody>
      </p:sp>
      <p:sp>
        <p:nvSpPr>
          <p:cNvPr id="6" name="cmd bg"/>
          <p:cNvSpPr/>
          <p:nvPr/>
        </p:nvSpPr>
        <p:spPr>
          <a:xfrm>
            <a:off x="640080" y="3931920"/>
            <a:ext cx="731520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cmd"/>
          <p:cNvSpPr txBox="1"/>
          <p:nvPr/>
        </p:nvSpPr>
        <p:spPr>
          <a:xfrm>
            <a:off x="868680" y="4041648"/>
            <a:ext cx="685800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--sim.steps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--sim.steps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--sim.no-cuda-graph</a:t>
            </a:r>
            <a:endParaRPr lang="en-US" sz="1600" dirty="0"/>
          </a:p>
        </p:txBody>
      </p:sp>
      <p:sp>
        <p:nvSpPr>
          <p:cNvPr id="8" name="stat faster: ~24 vs ~100 ms/frame"/>
          <p:cNvSpPr txBox="1"/>
          <p:nvPr/>
        </p:nvSpPr>
        <p:spPr>
          <a:xfrm>
            <a:off x="850392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4x</a:t>
            </a:r>
            <a:endParaRPr lang="en-US" sz="5400" dirty="0"/>
          </a:p>
        </p:txBody>
      </p:sp>
      <p:sp>
        <p:nvSpPr>
          <p:cNvPr id="9" name="label faster: ~24 vs ~100 ms/frame"/>
          <p:cNvSpPr txBox="1"/>
          <p:nvPr/>
        </p:nvSpPr>
        <p:spPr>
          <a:xfrm>
            <a:off x="85039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faster: ~24 vs ~100 ms/frame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Kernel cache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--keep-assets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--sim.steps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cold cache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--sim.steps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warm cache</a:t>
            </a:r>
            <a:endParaRPr lang="en-US" sz="1600" dirty="0"/>
          </a:p>
        </p:txBody>
      </p:sp>
      <p:graphicFrame>
        <p:nvGraphicFramePr>
          <p:cNvPr id="12" name="cach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19456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Cache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setup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first frame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steady ms/frame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cold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~10.6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~31.7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~27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warm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~2.3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~0.8 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~24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akeaway"/>
          <p:cNvSpPr txBox="1"/>
          <p:nvPr/>
        </p:nvSpPr>
        <p:spPr>
          <a:xfrm>
            <a:off x="640080" y="4846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Startup: about 40 s cold vs 3 s warm. Steady state is unchanged.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Change the task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87376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--sim.speed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--sim.place-x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--sim.place-y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endParaRPr lang="en-US" sz="1600" dirty="0"/>
          </a:p>
        </p:txBody>
      </p:sp>
      <p:sp>
        <p:nvSpPr>
          <p:cNvPr id="6" name="bullets"/>
          <p:cNvSpPr txBox="1"/>
          <p:nvPr/>
        </p:nvSpPr>
        <p:spPr>
          <a:xfrm>
            <a:off x="640080" y="3017520"/>
            <a:ext cx="109087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Speed scales the keyframe durations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Place target is just two numbers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Placement error is computed on the GPU by two Warp kernels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Change the cable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--sim.cable-segments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--sim.cable-length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--sim.cable-bend-stiffness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5e-2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stiffer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--sim.cable-bend-stiffness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5e-5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floppier</a:t>
            </a:r>
            <a:endParaRPr lang="en-US" sz="1600" dirty="0"/>
          </a:p>
        </p:txBody>
      </p:sp>
      <p:sp>
        <p:nvSpPr>
          <p:cNvPr id="6" name="bullets"/>
          <p:cNvSpPr txBox="1"/>
          <p:nvPr/>
        </p:nvSpPr>
        <p:spPr>
          <a:xfrm>
            <a:off x="640080" y="320040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Physical parameters, not tuning knobs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Floppier cable: more swing, larger placement error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Solver tuning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1032510"/>
          </a:xfrm>
          <a:prstGeom prst="roundRect">
            <a:avLst>
              <a:gd name="adj" fmla="val 7085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81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--sim.substeps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--sim.mujoco-iterations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--sim.vbd-iterations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--sim.coupling-iterations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--sim.profile</a:t>
            </a:r>
            <a:endParaRPr lang="en-US" sz="1400" dirty="0"/>
          </a:p>
        </p:txBody>
      </p:sp>
      <p:graphicFrame>
        <p:nvGraphicFramePr>
          <p:cNvPr id="15" name="tun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Setting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ms / frame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vs default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default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1.0x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coupling iterations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1.6x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 substeps, 150/30 iterations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2.2x</a:t>
                      </a:r>
                      <a:endParaRPr lang="en-US" sz="16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Remote machine workflow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1889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167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remote machine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--quiet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--port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39095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your laptop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39095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:127.0.0.1:39095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user@remote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Clean up and caveats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873760"/>
          </a:xfrm>
          <a:prstGeom prst="roundRect">
            <a:avLst>
              <a:gd name="adj" fmla="val 8372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--keep-assets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Warp kernel caches only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6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also the downloaded Franka asset</a:t>
            </a:r>
            <a:endParaRPr lang="en-US" sz="1600" dirty="0"/>
          </a:p>
        </p:txBody>
      </p:sp>
      <p:sp>
        <p:nvSpPr>
          <p:cNvPr id="6" name="bullets"/>
          <p:cNvSpPr txBox="1"/>
          <p:nvPr/>
        </p:nvSpPr>
        <p:spPr>
          <a:xfrm>
            <a:off x="640080" y="3017520"/>
            <a:ext cx="109087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Next simulate after a clean recompiles (and may re-download)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Placement error: roughly 1–6 cm, not bit-for-bit reproducible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play uses a private Newton method and may break on upgrade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Takeaways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76B900"/>
                </a:solidFill>
              </a:rPr>
              <a:t>Two solvers, one scene  ·  keyframes + IK  ·  hundreds of worlds on one GPU  ·  CUDA graph for ~4x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Domain randomization</a:t>
            </a:r>
            <a:endParaRPr lang="en-US" sz="3600" dirty="0"/>
          </a:p>
        </p:txBody>
      </p:sp>
      <p:sp>
        <p:nvSpPr>
          <p:cNvPr id="4" name="cmd bg"/>
          <p:cNvSpPr/>
          <p:nvPr/>
        </p:nvSpPr>
        <p:spPr>
          <a:xfrm>
            <a:off x="640080" y="1554480"/>
            <a:ext cx="10908792" cy="1303528"/>
          </a:xfrm>
          <a:prstGeom prst="roundRect">
            <a:avLst>
              <a:gd name="adj" fmla="val 7085"/>
            </a:avLst>
          </a:prstGeom>
          <a:solidFill>
            <a:schemeClr val="bg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cmd"/>
          <p:cNvSpPr txBox="1"/>
          <p:nvPr/>
        </p:nvSpPr>
        <p:spPr>
          <a:xfrm>
            <a:off x="868680" y="1664208"/>
            <a:ext cx="10451592" cy="108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main.py simulate </a:t>
            </a: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--sim.rand.all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main.py simulate </a:t>
            </a: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--sim.rand.friction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main.py simulate </a:t>
            </a: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--sim.rand.all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--sim.rand.timing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main.py simulate </a:t>
            </a: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--sim.rand.all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--sim.seed</a:t>
            </a: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35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graphicFrame>
        <p:nvGraphicFramePr>
          <p:cNvPr id="15" name="randomiz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86608"/>
          <a:ext cx="10908792" cy="2706624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130552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Flag (--sim.rand.&lt;name&gt;)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Randomizes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Default range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friction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cable friction coefficient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±30%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contact-ke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cable contact stiffness and damping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±20%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cable-mass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cable mass and inertia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±30%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arm-gains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Franka arm PD gains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±20%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cable-pos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cable start (x, y); the grasp follows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±3 cm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place-pos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place target (x, y)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±5 cm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timing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task speed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±10%</a:t>
                      </a:r>
                      <a:endParaRPr lang="en-US" sz="1400" dirty="0"/>
                    </a:p>
                  </a:txBody>
                  <a:tcPr marL="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ton Demo">
  <a:themeElements>
    <a:clrScheme name="Newton Demo">
      <a:dk1>
        <a:srgbClr val="1A1A1A"/>
      </a:dk1>
      <a:lt1>
        <a:srgbClr val="FFFFFF"/>
      </a:lt1>
      <a:dk2>
        <a:srgbClr val="5F6368"/>
      </a:dk2>
      <a:lt2>
        <a:srgbClr val="F3F4F6"/>
      </a:lt2>
      <a:accent1>
        <a:srgbClr val="76B900"/>
      </a:accent1>
      <a:accent2>
        <a:srgbClr val="0550AE"/>
      </a:accent2>
      <a:accent3>
        <a:srgbClr val="B35900"/>
      </a:accent3>
      <a:accent4>
        <a:srgbClr val="6F42C1"/>
      </a:accent4>
      <a:accent5>
        <a:srgbClr val="0A7F3F"/>
      </a:accent5>
      <a:accent6>
        <a:srgbClr val="9AA0A6"/>
      </a:accent6>
      <a:hlink>
        <a:srgbClr val="0550AE"/>
      </a:hlink>
      <a:folHlink>
        <a:srgbClr val="6F42C1"/>
      </a:folHlink>
    </a:clrScheme>
    <a:fontScheme name="Newton De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Coupled Franka + cable demo</dc:title>
  <dc:subject>PptxGenJS Presentation</dc:subject>
  <dc:creator>PptxGenJS</dc:creator>
  <cp:lastModifiedBy>PptxGenJS</cp:lastModifiedBy>
  <cp:revision>1</cp:revision>
  <dcterms:created xsi:type="dcterms:W3CDTF">2026-10-13T17:01:09Z</dcterms:created>
  <dcterms:modified xsi:type="dcterms:W3CDTF">2026-10-13T17:01:09Z</dcterms:modified>
</cp:coreProperties>
</file>